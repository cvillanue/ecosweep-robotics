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74" r:id="rId4"/>
    <p:sldId id="275" r:id="rId5"/>
    <p:sldId id="282" r:id="rId6"/>
    <p:sldId id="259" r:id="rId7"/>
    <p:sldId id="280" r:id="rId8"/>
    <p:sldId id="276" r:id="rId9"/>
    <p:sldId id="279" r:id="rId10"/>
    <p:sldId id="281" r:id="rId11"/>
    <p:sldId id="258" r:id="rId12"/>
    <p:sldId id="278" r:id="rId13"/>
    <p:sldId id="277" r:id="rId14"/>
    <p:sldId id="260" r:id="rId15"/>
    <p:sldId id="261" r:id="rId16"/>
    <p:sldId id="273" r:id="rId17"/>
    <p:sldId id="272" r:id="rId18"/>
    <p:sldId id="262" r:id="rId19"/>
    <p:sldId id="263" r:id="rId20"/>
    <p:sldId id="265" r:id="rId21"/>
    <p:sldId id="266" r:id="rId22"/>
    <p:sldId id="267" r:id="rId23"/>
    <p:sldId id="268" r:id="rId24"/>
    <p:sldId id="269" r:id="rId25"/>
    <p:sldId id="270" r:id="rId26"/>
    <p:sldId id="271"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29"/>
    <p:restoredTop sz="70970"/>
  </p:normalViewPr>
  <p:slideViewPr>
    <p:cSldViewPr snapToGrid="0" snapToObjects="1">
      <p:cViewPr>
        <p:scale>
          <a:sx n="88" d="100"/>
          <a:sy n="88" d="100"/>
        </p:scale>
        <p:origin x="2224"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4AB40F-BA72-D045-93CE-31E8EE820F71}" type="datetimeFigureOut">
              <a:rPr lang="en-US" smtClean="0"/>
              <a:t>10/3/25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4640-34C3-6046-B2C3-76EF294B5B2F}" type="slidenum">
              <a:rPr lang="en-US" smtClean="0"/>
              <a:t>‹#›</a:t>
            </a:fld>
            <a:endParaRPr lang="en-US"/>
          </a:p>
        </p:txBody>
      </p:sp>
    </p:spTree>
    <p:extLst>
      <p:ext uri="{BB962C8B-B14F-4D97-AF65-F5344CB8AC3E}">
        <p14:creationId xmlns:p14="http://schemas.microsoft.com/office/powerpoint/2010/main" val="642784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ATmega328P microcontroller with an 8-bit processor</a:t>
            </a:r>
          </a:p>
          <a:p>
            <a:r>
              <a:rPr lang="en-US" dirty="0"/>
              <a:t>An Arduino is an open-source electronic development platform consisting of a programmable circuit board and software to write code, </a:t>
            </a:r>
          </a:p>
          <a:p>
            <a:r>
              <a:rPr lang="en-US" dirty="0"/>
              <a:t>making it easy to build devices that interact with the real world. It simplifies electronics for beginners by providing a standardized, </a:t>
            </a:r>
          </a:p>
          <a:p>
            <a:r>
              <a:rPr lang="en-US" dirty="0"/>
              <a:t>accessible package that can be programmed directly via USB, using a simplified C++ language to control inputs and outputs</a:t>
            </a:r>
          </a:p>
        </p:txBody>
      </p:sp>
      <p:sp>
        <p:nvSpPr>
          <p:cNvPr id="4" name="Slide Number Placeholder 3"/>
          <p:cNvSpPr>
            <a:spLocks noGrp="1"/>
          </p:cNvSpPr>
          <p:nvPr>
            <p:ph type="sldNum" sz="quarter" idx="5"/>
          </p:nvPr>
        </p:nvSpPr>
        <p:spPr/>
        <p:txBody>
          <a:bodyPr/>
          <a:lstStyle/>
          <a:p>
            <a:fld id="{F97D4640-34C3-6046-B2C3-76EF294B5B2F}" type="slidenum">
              <a:rPr lang="en-US" smtClean="0"/>
              <a:t>2</a:t>
            </a:fld>
            <a:endParaRPr lang="en-US"/>
          </a:p>
        </p:txBody>
      </p:sp>
    </p:spTree>
    <p:extLst>
      <p:ext uri="{BB962C8B-B14F-4D97-AF65-F5344CB8AC3E}">
        <p14:creationId xmlns:p14="http://schemas.microsoft.com/office/powerpoint/2010/main" val="2867805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 motor is a device that converts electrical energy into mechanical energy. DC motor structure consists of two main parts: a permanent magnet and a coil. There is also a brush which is connected to an external electric power to the coils of the motor. When coil is powered on, there is a magnetic field around the coil.</a:t>
            </a:r>
          </a:p>
        </p:txBody>
      </p:sp>
      <p:sp>
        <p:nvSpPr>
          <p:cNvPr id="4" name="Slide Number Placeholder 3"/>
          <p:cNvSpPr>
            <a:spLocks noGrp="1"/>
          </p:cNvSpPr>
          <p:nvPr>
            <p:ph type="sldNum" sz="quarter" idx="5"/>
          </p:nvPr>
        </p:nvSpPr>
        <p:spPr/>
        <p:txBody>
          <a:bodyPr/>
          <a:lstStyle/>
          <a:p>
            <a:fld id="{F97D4640-34C3-6046-B2C3-76EF294B5B2F}" type="slidenum">
              <a:rPr lang="en-US" smtClean="0"/>
              <a:t>7</a:t>
            </a:fld>
            <a:endParaRPr lang="en-US"/>
          </a:p>
        </p:txBody>
      </p:sp>
    </p:spTree>
    <p:extLst>
      <p:ext uri="{BB962C8B-B14F-4D97-AF65-F5344CB8AC3E}">
        <p14:creationId xmlns:p14="http://schemas.microsoft.com/office/powerpoint/2010/main" val="32585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4640-34C3-6046-B2C3-76EF294B5B2F}" type="slidenum">
              <a:rPr lang="en-US" smtClean="0"/>
              <a:t>8</a:t>
            </a:fld>
            <a:endParaRPr lang="en-US"/>
          </a:p>
        </p:txBody>
      </p:sp>
    </p:spTree>
    <p:extLst>
      <p:ext uri="{BB962C8B-B14F-4D97-AF65-F5344CB8AC3E}">
        <p14:creationId xmlns:p14="http://schemas.microsoft.com/office/powerpoint/2010/main" val="136192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ffectLst/>
            </a:endParaRPr>
          </a:p>
          <a:p>
            <a:r>
              <a:rPr lang="en-US" dirty="0"/>
              <a:t>DC motor drive current is mostly an H-Bridge circuit which consists of a transistor which acts as a switch of 4 units (Q1 to Q4) via a dedicated DC motor. </a:t>
            </a:r>
          </a:p>
          <a:p>
            <a:r>
              <a:rPr lang="en-US" dirty="0"/>
              <a:t>Figure shows the position of the transistors in the H-bridge which are responsible for controlling the current in the motor. </a:t>
            </a:r>
          </a:p>
          <a:p>
            <a:r>
              <a:rPr lang="en-US" dirty="0"/>
              <a:t>When sending the control signal to Q1 and Q4, Q2 and Q3 will be disabled and the current will flow from A to B which will enable the motor to rotate in one direction. </a:t>
            </a:r>
          </a:p>
          <a:p>
            <a:r>
              <a:rPr lang="en-US" dirty="0"/>
              <a:t>When the control signal is sent to Q2 and Q3, Q1 and Q4 transistors will be disabled and current will flow from B to A and the motor will rotate in reverse directions. </a:t>
            </a:r>
          </a:p>
        </p:txBody>
      </p:sp>
      <p:sp>
        <p:nvSpPr>
          <p:cNvPr id="4" name="Slide Number Placeholder 3"/>
          <p:cNvSpPr>
            <a:spLocks noGrp="1"/>
          </p:cNvSpPr>
          <p:nvPr>
            <p:ph type="sldNum" sz="quarter" idx="5"/>
          </p:nvPr>
        </p:nvSpPr>
        <p:spPr/>
        <p:txBody>
          <a:bodyPr/>
          <a:lstStyle/>
          <a:p>
            <a:fld id="{F97D4640-34C3-6046-B2C3-76EF294B5B2F}" type="slidenum">
              <a:rPr lang="en-US" smtClean="0"/>
              <a:t>9</a:t>
            </a:fld>
            <a:endParaRPr lang="en-US"/>
          </a:p>
        </p:txBody>
      </p:sp>
    </p:spTree>
    <p:extLst>
      <p:ext uri="{BB962C8B-B14F-4D97-AF65-F5344CB8AC3E}">
        <p14:creationId xmlns:p14="http://schemas.microsoft.com/office/powerpoint/2010/main" val="1912618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Pulse Width Modulation, is a technique for controlling the average power delivered to a device by rapidly switching the power on and off.</a:t>
            </a:r>
          </a:p>
          <a:p>
            <a:endParaRPr lang="en-US" dirty="0"/>
          </a:p>
        </p:txBody>
      </p:sp>
      <p:sp>
        <p:nvSpPr>
          <p:cNvPr id="4" name="Slide Number Placeholder 3"/>
          <p:cNvSpPr>
            <a:spLocks noGrp="1"/>
          </p:cNvSpPr>
          <p:nvPr>
            <p:ph type="sldNum" sz="quarter" idx="5"/>
          </p:nvPr>
        </p:nvSpPr>
        <p:spPr/>
        <p:txBody>
          <a:bodyPr/>
          <a:lstStyle/>
          <a:p>
            <a:fld id="{F97D4640-34C3-6046-B2C3-76EF294B5B2F}" type="slidenum">
              <a:rPr lang="en-US" smtClean="0"/>
              <a:t>12</a:t>
            </a:fld>
            <a:endParaRPr lang="en-US"/>
          </a:p>
        </p:txBody>
      </p:sp>
    </p:spTree>
    <p:extLst>
      <p:ext uri="{BB962C8B-B14F-4D97-AF65-F5344CB8AC3E}">
        <p14:creationId xmlns:p14="http://schemas.microsoft.com/office/powerpoint/2010/main" val="2093385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Eco-Sweep Robot: Components &amp; Design</a:t>
            </a:r>
          </a:p>
        </p:txBody>
      </p:sp>
      <p:sp>
        <p:nvSpPr>
          <p:cNvPr id="3" name="Subtitle 2"/>
          <p:cNvSpPr>
            <a:spLocks noGrp="1"/>
          </p:cNvSpPr>
          <p:nvPr>
            <p:ph type="subTitle" idx="1"/>
          </p:nvPr>
        </p:nvSpPr>
        <p:spPr/>
        <p:txBody>
          <a:bodyPr/>
          <a:lstStyle/>
          <a:p>
            <a:r>
              <a:t>How each part works together for the most optimal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Arduino Uno</a:t>
            </a:r>
            <a:r>
              <a:rPr lang="en-US" dirty="0"/>
              <a:t> Anatomy</a:t>
            </a:r>
            <a:endParaRPr dirty="0"/>
          </a:p>
        </p:txBody>
      </p:sp>
      <p:pic>
        <p:nvPicPr>
          <p:cNvPr id="4" name="Picture 2" descr="Key components of an Arduino board.">
            <a:extLst>
              <a:ext uri="{FF2B5EF4-FFF2-40B4-BE49-F238E27FC236}">
                <a16:creationId xmlns:a16="http://schemas.microsoft.com/office/drawing/2014/main" id="{0C24CC82-4E6A-2733-65B9-4FAB6C28BD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0" y="1816100"/>
            <a:ext cx="8255000" cy="464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F2746-1C01-A5DE-EC68-4FCD0B7AA9FC}"/>
              </a:ext>
            </a:extLst>
          </p:cNvPr>
          <p:cNvSpPr>
            <a:spLocks noGrp="1"/>
          </p:cNvSpPr>
          <p:nvPr>
            <p:ph type="title"/>
          </p:nvPr>
        </p:nvSpPr>
        <p:spPr/>
        <p:txBody>
          <a:bodyPr/>
          <a:lstStyle/>
          <a:p>
            <a:r>
              <a:rPr lang="en-US" dirty="0"/>
              <a:t>Components</a:t>
            </a:r>
          </a:p>
        </p:txBody>
      </p:sp>
      <p:pic>
        <p:nvPicPr>
          <p:cNvPr id="5" name="Content Placeholder 4">
            <a:extLst>
              <a:ext uri="{FF2B5EF4-FFF2-40B4-BE49-F238E27FC236}">
                <a16:creationId xmlns:a16="http://schemas.microsoft.com/office/drawing/2014/main" id="{A3BBC1B8-835E-3DD9-284C-27C561E2361F}"/>
              </a:ext>
            </a:extLst>
          </p:cNvPr>
          <p:cNvPicPr>
            <a:picLocks noGrp="1" noChangeAspect="1"/>
          </p:cNvPicPr>
          <p:nvPr>
            <p:ph idx="1"/>
          </p:nvPr>
        </p:nvPicPr>
        <p:blipFill>
          <a:blip r:embed="rId2"/>
          <a:stretch>
            <a:fillRect/>
          </a:stretch>
        </p:blipFill>
        <p:spPr>
          <a:xfrm>
            <a:off x="535330" y="1600200"/>
            <a:ext cx="8073339" cy="4525963"/>
          </a:xfrm>
        </p:spPr>
      </p:pic>
    </p:spTree>
    <p:extLst>
      <p:ext uri="{BB962C8B-B14F-4D97-AF65-F5344CB8AC3E}">
        <p14:creationId xmlns:p14="http://schemas.microsoft.com/office/powerpoint/2010/main" val="2878430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2B493-C2A4-834E-AC6E-A19E3C57724E}"/>
              </a:ext>
            </a:extLst>
          </p:cNvPr>
          <p:cNvSpPr>
            <a:spLocks noGrp="1"/>
          </p:cNvSpPr>
          <p:nvPr>
            <p:ph type="title"/>
          </p:nvPr>
        </p:nvSpPr>
        <p:spPr/>
        <p:txBody>
          <a:bodyPr/>
          <a:lstStyle/>
          <a:p>
            <a:r>
              <a:rPr lang="en-US" dirty="0"/>
              <a:t>Arduino Programming</a:t>
            </a:r>
          </a:p>
        </p:txBody>
      </p:sp>
      <p:sp>
        <p:nvSpPr>
          <p:cNvPr id="3" name="Content Placeholder 2">
            <a:extLst>
              <a:ext uri="{FF2B5EF4-FFF2-40B4-BE49-F238E27FC236}">
                <a16:creationId xmlns:a16="http://schemas.microsoft.com/office/drawing/2014/main" id="{0F32151E-A1D5-2901-29F2-1D8D7259BE4D}"/>
              </a:ext>
            </a:extLst>
          </p:cNvPr>
          <p:cNvSpPr>
            <a:spLocks noGrp="1"/>
          </p:cNvSpPr>
          <p:nvPr>
            <p:ph idx="1"/>
          </p:nvPr>
        </p:nvSpPr>
        <p:spPr/>
        <p:txBody>
          <a:bodyPr/>
          <a:lstStyle/>
          <a:p>
            <a:pPr marL="0" indent="0">
              <a:buNone/>
            </a:pPr>
            <a:r>
              <a:rPr lang="en-US" dirty="0"/>
              <a:t>-- The program that is loaded to the microcontroller will start execution as soon as it is powered. Every program has a function called "loop”. Examples:</a:t>
            </a:r>
          </a:p>
          <a:p>
            <a:pPr marL="0" indent="0">
              <a:buNone/>
            </a:pPr>
            <a:r>
              <a:rPr lang="en-US" dirty="0"/>
              <a:t>- Read a sensor.</a:t>
            </a:r>
          </a:p>
          <a:p>
            <a:pPr marL="0" indent="0">
              <a:buNone/>
            </a:pPr>
            <a:r>
              <a:rPr lang="en-US" dirty="0"/>
              <a:t>- Turn on a light.</a:t>
            </a:r>
          </a:p>
          <a:p>
            <a:pPr marL="0" indent="0">
              <a:buNone/>
            </a:pPr>
            <a:r>
              <a:rPr lang="en-US" dirty="0"/>
              <a:t>- Check whether a condition is met.</a:t>
            </a:r>
          </a:p>
          <a:p>
            <a:pPr marL="0" indent="0">
              <a:buNone/>
            </a:pPr>
            <a:r>
              <a:rPr lang="en-US" dirty="0"/>
              <a:t>- All of the above.</a:t>
            </a:r>
          </a:p>
          <a:p>
            <a:endParaRPr lang="en-US" dirty="0"/>
          </a:p>
        </p:txBody>
      </p:sp>
    </p:spTree>
    <p:extLst>
      <p:ext uri="{BB962C8B-B14F-4D97-AF65-F5344CB8AC3E}">
        <p14:creationId xmlns:p14="http://schemas.microsoft.com/office/powerpoint/2010/main" val="4284875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49831-FFA5-E755-C960-55E163D741EA}"/>
              </a:ext>
            </a:extLst>
          </p:cNvPr>
          <p:cNvSpPr>
            <a:spLocks noGrp="1"/>
          </p:cNvSpPr>
          <p:nvPr>
            <p:ph type="title"/>
          </p:nvPr>
        </p:nvSpPr>
        <p:spPr>
          <a:xfrm>
            <a:off x="457200" y="0"/>
            <a:ext cx="8229600" cy="1143000"/>
          </a:xfrm>
        </p:spPr>
        <p:txBody>
          <a:bodyPr/>
          <a:lstStyle/>
          <a:p>
            <a:r>
              <a:rPr lang="en-US" dirty="0"/>
              <a:t>Arduino PINS</a:t>
            </a:r>
          </a:p>
        </p:txBody>
      </p:sp>
      <p:sp>
        <p:nvSpPr>
          <p:cNvPr id="5" name="TextBox 4">
            <a:extLst>
              <a:ext uri="{FF2B5EF4-FFF2-40B4-BE49-F238E27FC236}">
                <a16:creationId xmlns:a16="http://schemas.microsoft.com/office/drawing/2014/main" id="{D70F2BC5-D514-3544-159E-0BD16EAF5369}"/>
              </a:ext>
            </a:extLst>
          </p:cNvPr>
          <p:cNvSpPr txBox="1"/>
          <p:nvPr/>
        </p:nvSpPr>
        <p:spPr>
          <a:xfrm>
            <a:off x="638629" y="5060353"/>
            <a:ext cx="7866742" cy="1477328"/>
          </a:xfrm>
          <a:prstGeom prst="rect">
            <a:avLst/>
          </a:prstGeom>
          <a:noFill/>
        </p:spPr>
        <p:txBody>
          <a:bodyPr wrap="square">
            <a:spAutoFit/>
          </a:bodyPr>
          <a:lstStyle/>
          <a:p>
            <a:r>
              <a:rPr lang="en-US" dirty="0"/>
              <a:t>In Arduino, HIGH and LOW are keywords representing the two possible logic states of a digital pin, analogous to 1 and 0, or true and false. When a digital pin is set to HIGH using </a:t>
            </a:r>
            <a:r>
              <a:rPr lang="en-US" dirty="0" err="1"/>
              <a:t>digitalWrite</a:t>
            </a:r>
            <a:r>
              <a:rPr lang="en-US" dirty="0"/>
              <a:t>(), it outputs the board's voltage (e.g., 5V on a 5V board), while LOW sets it to 0V (ground). The </a:t>
            </a:r>
            <a:r>
              <a:rPr lang="en-US" dirty="0" err="1"/>
              <a:t>digitalRead</a:t>
            </a:r>
            <a:r>
              <a:rPr lang="en-US" dirty="0"/>
              <a:t>() function interprets an incoming voltage: a voltage below a certain threshold (e.g., ~1.5V) is read as LOW, a</a:t>
            </a:r>
          </a:p>
        </p:txBody>
      </p:sp>
      <p:pic>
        <p:nvPicPr>
          <p:cNvPr id="6146" name="Picture 2" descr="Arduino Uno Pins - A Complete Practical Guide - The Robotics Back-End">
            <a:extLst>
              <a:ext uri="{FF2B5EF4-FFF2-40B4-BE49-F238E27FC236}">
                <a16:creationId xmlns:a16="http://schemas.microsoft.com/office/drawing/2014/main" id="{C67FEC51-DECD-828E-E059-EA991D9BDF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44434"/>
            <a:ext cx="9144000" cy="3611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920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DC Gear Motors + Wheels</a:t>
            </a:r>
          </a:p>
        </p:txBody>
      </p:sp>
      <p:sp>
        <p:nvSpPr>
          <p:cNvPr id="3" name="Content Placeholder 2"/>
          <p:cNvSpPr>
            <a:spLocks noGrp="1"/>
          </p:cNvSpPr>
          <p:nvPr>
            <p:ph idx="1"/>
          </p:nvPr>
        </p:nvSpPr>
        <p:spPr/>
        <p:txBody>
          <a:bodyPr/>
          <a:lstStyle/>
          <a:p>
            <a:pPr marL="0" indent="0">
              <a:buNone/>
            </a:pPr>
            <a:r>
              <a:rPr dirty="0"/>
              <a:t>Provide movement. Two motors drive the robot in differential steering (tank-style turns).</a:t>
            </a:r>
            <a:endParaRPr lang="en-US" dirty="0"/>
          </a:p>
          <a:p>
            <a:r>
              <a:rPr lang="en-US" dirty="0">
                <a:effectLst/>
              </a:rPr>
              <a:t>Electric motors that run on direct current are known as direct-current (DC) motors. </a:t>
            </a:r>
          </a:p>
          <a:p>
            <a:r>
              <a:rPr lang="en-US" dirty="0">
                <a:effectLst/>
              </a:rPr>
              <a:t>These motors can convert electrical energy into mechanical energy by combining magnetic fields and currents</a:t>
            </a:r>
          </a:p>
          <a:p>
            <a:pPr marL="0" indent="0">
              <a:buNone/>
            </a:pPr>
            <a:endParaRPr dirty="0"/>
          </a:p>
        </p:txBody>
      </p:sp>
      <p:pic>
        <p:nvPicPr>
          <p:cNvPr id="3074" name="Picture 2" descr="3V - 6V Dual Axis TT Gear Motor | DC Brushed Gear Motors | Rapid Robotics  Australia">
            <a:extLst>
              <a:ext uri="{FF2B5EF4-FFF2-40B4-BE49-F238E27FC236}">
                <a16:creationId xmlns:a16="http://schemas.microsoft.com/office/drawing/2014/main" id="{0C162993-25AF-9AD2-E5AA-60C938A85A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7582" y="2726509"/>
            <a:ext cx="4002024" cy="40020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93859D63-C2FA-DDF3-F859-08E713C2152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60714" y="4262324"/>
            <a:ext cx="6045200" cy="1930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2AC95C8-DED0-D1FB-DDA6-E3344B39616B}"/>
              </a:ext>
            </a:extLst>
          </p:cNvPr>
          <p:cNvSpPr txBox="1"/>
          <p:nvPr/>
        </p:nvSpPr>
        <p:spPr>
          <a:xfrm>
            <a:off x="261257" y="449942"/>
            <a:ext cx="8519886" cy="3046988"/>
          </a:xfrm>
          <a:prstGeom prst="rect">
            <a:avLst/>
          </a:prstGeom>
          <a:noFill/>
        </p:spPr>
        <p:txBody>
          <a:bodyPr wrap="square" rtlCol="0">
            <a:spAutoFit/>
          </a:bodyPr>
          <a:lstStyle/>
          <a:p>
            <a:r>
              <a:rPr lang="en-US" sz="2400" dirty="0"/>
              <a:t>There are two lines of the motor i.e. black (negative polarity) and red (positive polarity). Rotation of the motor is based on the application of the voltage polarity applied to the lines of the motor. </a:t>
            </a:r>
            <a:r>
              <a:rPr lang="en-US" sz="2400" dirty="0">
                <a:highlight>
                  <a:srgbClr val="FFFF00"/>
                </a:highlight>
              </a:rPr>
              <a:t>Motor can rotate in clock and anti-clock wise direction. </a:t>
            </a:r>
            <a:r>
              <a:rPr lang="en-US" sz="2400" dirty="0"/>
              <a:t>The speed of the motor can be decreased by controlling the voltage of the power supply. The DC motor is cheap and easy to use. Use of DC motor is widely found in daily use items such as small toys, electric bikes, robotic arms and industrial projects etc.</a:t>
            </a:r>
          </a:p>
        </p:txBody>
      </p:sp>
    </p:spTree>
    <p:extLst>
      <p:ext uri="{BB962C8B-B14F-4D97-AF65-F5344CB8AC3E}">
        <p14:creationId xmlns:p14="http://schemas.microsoft.com/office/powerpoint/2010/main" val="1017589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819FE-13EB-F4ED-2FDA-21BC835CCE05}"/>
              </a:ext>
            </a:extLst>
          </p:cNvPr>
          <p:cNvSpPr>
            <a:spLocks noGrp="1"/>
          </p:cNvSpPr>
          <p:nvPr>
            <p:ph type="title"/>
          </p:nvPr>
        </p:nvSpPr>
        <p:spPr/>
        <p:txBody>
          <a:bodyPr/>
          <a:lstStyle/>
          <a:p>
            <a:r>
              <a:rPr lang="en-US" dirty="0"/>
              <a:t>H-Bridge</a:t>
            </a:r>
          </a:p>
        </p:txBody>
      </p:sp>
      <p:pic>
        <p:nvPicPr>
          <p:cNvPr id="2050" name="Picture 2" descr="H-Bridges – the Basics | Modular Circuits">
            <a:extLst>
              <a:ext uri="{FF2B5EF4-FFF2-40B4-BE49-F238E27FC236}">
                <a16:creationId xmlns:a16="http://schemas.microsoft.com/office/drawing/2014/main" id="{E5B46059-D440-816A-8492-037256B2F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1100" y="2186781"/>
            <a:ext cx="3429000" cy="33528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0510201-81A8-1B66-099F-7AA9DAA099D0}"/>
              </a:ext>
            </a:extLst>
          </p:cNvPr>
          <p:cNvSpPr txBox="1"/>
          <p:nvPr/>
        </p:nvSpPr>
        <p:spPr>
          <a:xfrm>
            <a:off x="457200" y="1662578"/>
            <a:ext cx="3889829" cy="4401205"/>
          </a:xfrm>
          <a:prstGeom prst="rect">
            <a:avLst/>
          </a:prstGeom>
          <a:noFill/>
        </p:spPr>
        <p:txBody>
          <a:bodyPr wrap="square" rtlCol="0">
            <a:spAutoFit/>
          </a:bodyPr>
          <a:lstStyle/>
          <a:p>
            <a:r>
              <a:rPr lang="en-US" sz="2800" dirty="0"/>
              <a:t>An </a:t>
            </a:r>
            <a:r>
              <a:rPr lang="en-US" sz="2800" b="1" dirty="0"/>
              <a:t>H-bridge circuit</a:t>
            </a:r>
            <a:r>
              <a:rPr lang="en-US" sz="2800" dirty="0"/>
              <a:t> is a simple DC motor driver configuration which allows us to control both the rotational speed and direction of such electric motors by using a fixed DC voltage or by pulse width modulation (PWM).</a:t>
            </a:r>
          </a:p>
        </p:txBody>
      </p:sp>
    </p:spTree>
    <p:extLst>
      <p:ext uri="{BB962C8B-B14F-4D97-AF65-F5344CB8AC3E}">
        <p14:creationId xmlns:p14="http://schemas.microsoft.com/office/powerpoint/2010/main" val="3367219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3E91B-3E25-0B91-4A2B-1D398451FBD0}"/>
              </a:ext>
            </a:extLst>
          </p:cNvPr>
          <p:cNvSpPr>
            <a:spLocks noGrp="1"/>
          </p:cNvSpPr>
          <p:nvPr>
            <p:ph type="title"/>
          </p:nvPr>
        </p:nvSpPr>
        <p:spPr/>
        <p:txBody>
          <a:bodyPr/>
          <a:lstStyle/>
          <a:p>
            <a:r>
              <a:rPr lang="en-US" dirty="0"/>
              <a:t>DC Motors (How they work)</a:t>
            </a:r>
          </a:p>
        </p:txBody>
      </p:sp>
      <p:sp>
        <p:nvSpPr>
          <p:cNvPr id="4" name="Content Placeholder 3">
            <a:extLst>
              <a:ext uri="{FF2B5EF4-FFF2-40B4-BE49-F238E27FC236}">
                <a16:creationId xmlns:a16="http://schemas.microsoft.com/office/drawing/2014/main" id="{D3F64BEA-B249-2AB7-E62F-F38A4E11AAC8}"/>
              </a:ext>
            </a:extLst>
          </p:cNvPr>
          <p:cNvSpPr>
            <a:spLocks noGrp="1"/>
          </p:cNvSpPr>
          <p:nvPr>
            <p:ph idx="1"/>
          </p:nvPr>
        </p:nvSpPr>
        <p:spPr/>
        <p:txBody>
          <a:bodyPr/>
          <a:lstStyle/>
          <a:p>
            <a:endParaRPr lang="en-US"/>
          </a:p>
        </p:txBody>
      </p:sp>
      <p:pic>
        <p:nvPicPr>
          <p:cNvPr id="3076" name="Picture 4" descr="DC Motors Control - HELPDESK_WJ (Waijung) - Aimagin Support">
            <a:extLst>
              <a:ext uri="{FF2B5EF4-FFF2-40B4-BE49-F238E27FC236}">
                <a16:creationId xmlns:a16="http://schemas.microsoft.com/office/drawing/2014/main" id="{5A5D1266-D74E-CFDB-1925-ED194C16AC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 y="1365250"/>
            <a:ext cx="8610600" cy="412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1293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42814-B887-410E-92EF-29EF7140EBF1}"/>
              </a:ext>
            </a:extLst>
          </p:cNvPr>
          <p:cNvSpPr>
            <a:spLocks noGrp="1"/>
          </p:cNvSpPr>
          <p:nvPr>
            <p:ph type="title"/>
          </p:nvPr>
        </p:nvSpPr>
        <p:spPr/>
        <p:txBody>
          <a:bodyPr/>
          <a:lstStyle/>
          <a:p>
            <a:r>
              <a:rPr lang="en-US" dirty="0"/>
              <a:t>ENABLE in H-Bridge</a:t>
            </a:r>
          </a:p>
        </p:txBody>
      </p:sp>
      <p:sp>
        <p:nvSpPr>
          <p:cNvPr id="3" name="Content Placeholder 2">
            <a:extLst>
              <a:ext uri="{FF2B5EF4-FFF2-40B4-BE49-F238E27FC236}">
                <a16:creationId xmlns:a16="http://schemas.microsoft.com/office/drawing/2014/main" id="{654C7A45-3AA1-FA88-1061-04812D34D440}"/>
              </a:ext>
            </a:extLst>
          </p:cNvPr>
          <p:cNvSpPr>
            <a:spLocks noGrp="1"/>
          </p:cNvSpPr>
          <p:nvPr>
            <p:ph idx="1"/>
          </p:nvPr>
        </p:nvSpPr>
        <p:spPr/>
        <p:txBody>
          <a:bodyPr/>
          <a:lstStyle/>
          <a:p>
            <a:r>
              <a:rPr lang="en-US" dirty="0"/>
              <a:t>In the context of an H-bridge, EN most likely refers to the Enable input or function, which controls whether the H-bridge circuit is active and can receive control signals to drive the motor, or is disabled to a safe state like high-impedance or coasting</a:t>
            </a:r>
          </a:p>
        </p:txBody>
      </p:sp>
    </p:spTree>
    <p:extLst>
      <p:ext uri="{BB962C8B-B14F-4D97-AF65-F5344CB8AC3E}">
        <p14:creationId xmlns:p14="http://schemas.microsoft.com/office/powerpoint/2010/main" val="3644849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L298N Motor Driver</a:t>
            </a:r>
            <a:r>
              <a:rPr lang="en-US" dirty="0"/>
              <a:t> (H-Bridge)</a:t>
            </a:r>
            <a:endParaRPr dirty="0"/>
          </a:p>
        </p:txBody>
      </p:sp>
      <p:sp>
        <p:nvSpPr>
          <p:cNvPr id="3" name="Content Placeholder 2"/>
          <p:cNvSpPr>
            <a:spLocks noGrp="1"/>
          </p:cNvSpPr>
          <p:nvPr>
            <p:ph idx="1"/>
          </p:nvPr>
        </p:nvSpPr>
        <p:spPr/>
        <p:txBody>
          <a:bodyPr/>
          <a:lstStyle/>
          <a:p>
            <a:pPr marL="0" indent="0">
              <a:buNone/>
            </a:pPr>
            <a:r>
              <a:rPr dirty="0"/>
              <a:t>Controls the DC motors. Takes commands from Arduino to drive wheels forward, backward, or turn.</a:t>
            </a:r>
          </a:p>
        </p:txBody>
      </p:sp>
      <p:pic>
        <p:nvPicPr>
          <p:cNvPr id="2050" name="Picture 2" descr="Raspberry Pi Pico DC Motor L298N Motor Driver - MicroPython | Random Nerd  Tutorials">
            <a:extLst>
              <a:ext uri="{FF2B5EF4-FFF2-40B4-BE49-F238E27FC236}">
                <a16:creationId xmlns:a16="http://schemas.microsoft.com/office/drawing/2014/main" id="{26249452-CE70-290E-22C2-DE911FF9FC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9938" y="2962656"/>
            <a:ext cx="5564124" cy="37094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9B303-4975-E296-87BA-68A51256F480}"/>
              </a:ext>
            </a:extLst>
          </p:cNvPr>
          <p:cNvSpPr>
            <a:spLocks noGrp="1"/>
          </p:cNvSpPr>
          <p:nvPr>
            <p:ph type="title"/>
          </p:nvPr>
        </p:nvSpPr>
        <p:spPr/>
        <p:txBody>
          <a:bodyPr/>
          <a:lstStyle/>
          <a:p>
            <a:r>
              <a:rPr lang="en-US" dirty="0"/>
              <a:t>PMW (Pulse Width Modulation) </a:t>
            </a:r>
          </a:p>
        </p:txBody>
      </p:sp>
      <p:sp>
        <p:nvSpPr>
          <p:cNvPr id="3" name="Content Placeholder 2">
            <a:extLst>
              <a:ext uri="{FF2B5EF4-FFF2-40B4-BE49-F238E27FC236}">
                <a16:creationId xmlns:a16="http://schemas.microsoft.com/office/drawing/2014/main" id="{6B8389AF-B2F7-B8C0-D693-FC1A447C2198}"/>
              </a:ext>
            </a:extLst>
          </p:cNvPr>
          <p:cNvSpPr>
            <a:spLocks noGrp="1"/>
          </p:cNvSpPr>
          <p:nvPr>
            <p:ph idx="1"/>
          </p:nvPr>
        </p:nvSpPr>
        <p:spPr/>
        <p:txBody>
          <a:bodyPr/>
          <a:lstStyle/>
          <a:p>
            <a:r>
              <a:rPr lang="en-US" dirty="0"/>
              <a:t>PWM allows you to simulate an analog output by rapidly switching the pin between HIGH and LOW states. The duration of the HIGH state (the "pulse width") within a cycle determines the average voltage, which can be used to dim an LED or control a servo motor. </a:t>
            </a:r>
          </a:p>
          <a:p>
            <a:endParaRPr lang="en-US" dirty="0"/>
          </a:p>
        </p:txBody>
      </p:sp>
    </p:spTree>
    <p:extLst>
      <p:ext uri="{BB962C8B-B14F-4D97-AF65-F5344CB8AC3E}">
        <p14:creationId xmlns:p14="http://schemas.microsoft.com/office/powerpoint/2010/main" val="1813581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9CBBC-AF02-C670-C407-27CCC19A0252}"/>
              </a:ext>
            </a:extLst>
          </p:cNvPr>
          <p:cNvSpPr>
            <a:spLocks noGrp="1"/>
          </p:cNvSpPr>
          <p:nvPr>
            <p:ph type="title"/>
          </p:nvPr>
        </p:nvSpPr>
        <p:spPr/>
        <p:txBody>
          <a:bodyPr>
            <a:normAutofit/>
          </a:bodyPr>
          <a:lstStyle/>
          <a:p>
            <a:endParaRPr lang="en-US" dirty="0"/>
          </a:p>
        </p:txBody>
      </p:sp>
      <p:sp>
        <p:nvSpPr>
          <p:cNvPr id="3" name="Content Placeholder 2">
            <a:extLst>
              <a:ext uri="{FF2B5EF4-FFF2-40B4-BE49-F238E27FC236}">
                <a16:creationId xmlns:a16="http://schemas.microsoft.com/office/drawing/2014/main" id="{C4BBB928-EA6B-31E2-7882-DABC0A7C977F}"/>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67891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Caster Wheel</a:t>
            </a:r>
            <a:r>
              <a:rPr lang="en-US" dirty="0"/>
              <a:t> (optional)</a:t>
            </a:r>
            <a:endParaRPr dirty="0"/>
          </a:p>
        </p:txBody>
      </p:sp>
      <p:sp>
        <p:nvSpPr>
          <p:cNvPr id="3" name="Content Placeholder 2"/>
          <p:cNvSpPr>
            <a:spLocks noGrp="1"/>
          </p:cNvSpPr>
          <p:nvPr>
            <p:ph idx="1"/>
          </p:nvPr>
        </p:nvSpPr>
        <p:spPr/>
        <p:txBody>
          <a:bodyPr/>
          <a:lstStyle/>
          <a:p>
            <a:r>
              <a:rPr dirty="0"/>
              <a:t>Provides stability as the third wheel, allowing smooth turning.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7.4V Battery Pack</a:t>
            </a:r>
          </a:p>
        </p:txBody>
      </p:sp>
      <p:sp>
        <p:nvSpPr>
          <p:cNvPr id="3" name="Content Placeholder 2"/>
          <p:cNvSpPr>
            <a:spLocks noGrp="1"/>
          </p:cNvSpPr>
          <p:nvPr>
            <p:ph idx="1"/>
          </p:nvPr>
        </p:nvSpPr>
        <p:spPr>
          <a:xfrm>
            <a:off x="272796" y="1246633"/>
            <a:ext cx="3429000" cy="2093976"/>
          </a:xfrm>
        </p:spPr>
        <p:txBody>
          <a:bodyPr/>
          <a:lstStyle/>
          <a:p>
            <a:pPr marL="0" indent="0">
              <a:buNone/>
            </a:pPr>
            <a:r>
              <a:rPr lang="en-US" dirty="0"/>
              <a:t>Powers the entire system – BUT WE NEED TO POWER DOWN!</a:t>
            </a:r>
          </a:p>
          <a:p>
            <a:pPr marL="0" indent="0">
              <a:buNone/>
            </a:pPr>
            <a:endParaRPr lang="en-US" dirty="0"/>
          </a:p>
          <a:p>
            <a:pPr marL="0" indent="0">
              <a:buNone/>
            </a:pPr>
            <a:endParaRPr dirty="0"/>
          </a:p>
        </p:txBody>
      </p:sp>
      <p:pic>
        <p:nvPicPr>
          <p:cNvPr id="4098" name="Picture 2" descr="Amazon.com: Zeee 2S Lipo Battery 2200mAh 7.4V 50C Shorty Pack Battery with  XT60 Connector Soft Pack for 1/16 Slash RC Car RC Truck RC Helicopter  Airplane Quadcopter Drone RC Boat Racing Models (">
            <a:extLst>
              <a:ext uri="{FF2B5EF4-FFF2-40B4-BE49-F238E27FC236}">
                <a16:creationId xmlns:a16="http://schemas.microsoft.com/office/drawing/2014/main" id="{F83F4B74-5424-91D0-677A-6374B28D21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0328" y="1371600"/>
            <a:ext cx="4114800" cy="41148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A2D8BE0-15F0-C9B1-05D7-63E2790E1718}"/>
              </a:ext>
            </a:extLst>
          </p:cNvPr>
          <p:cNvSpPr txBox="1"/>
          <p:nvPr/>
        </p:nvSpPr>
        <p:spPr>
          <a:xfrm>
            <a:off x="192024" y="3075396"/>
            <a:ext cx="6028942" cy="3785652"/>
          </a:xfrm>
          <a:prstGeom prst="rect">
            <a:avLst/>
          </a:prstGeom>
          <a:noFill/>
        </p:spPr>
        <p:txBody>
          <a:bodyPr wrap="square" rtlCol="0">
            <a:spAutoFit/>
          </a:bodyPr>
          <a:lstStyle/>
          <a:p>
            <a:r>
              <a:rPr lang="en-US" sz="4800" b="1" dirty="0">
                <a:solidFill>
                  <a:srgbClr val="FF0000"/>
                </a:solidFill>
              </a:rPr>
              <a:t>DON’T PLUG THE BATTERY INTO THE ARDUINO --- YOU WILL FRY THE ARDUINO!!!!!!!!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77658-5C18-95EF-92B5-E94402B04675}"/>
              </a:ext>
            </a:extLst>
          </p:cNvPr>
          <p:cNvSpPr>
            <a:spLocks noGrp="1"/>
          </p:cNvSpPr>
          <p:nvPr>
            <p:ph type="title"/>
          </p:nvPr>
        </p:nvSpPr>
        <p:spPr/>
        <p:txBody>
          <a:bodyPr/>
          <a:lstStyle/>
          <a:p>
            <a:r>
              <a:rPr lang="en-US" dirty="0"/>
              <a:t>Battery Setup</a:t>
            </a:r>
          </a:p>
        </p:txBody>
      </p:sp>
      <p:sp>
        <p:nvSpPr>
          <p:cNvPr id="3" name="Content Placeholder 2">
            <a:extLst>
              <a:ext uri="{FF2B5EF4-FFF2-40B4-BE49-F238E27FC236}">
                <a16:creationId xmlns:a16="http://schemas.microsoft.com/office/drawing/2014/main" id="{C95CBF5E-4199-CCD3-6E1C-1DDC56978EFC}"/>
              </a:ext>
            </a:extLst>
          </p:cNvPr>
          <p:cNvSpPr>
            <a:spLocks noGrp="1"/>
          </p:cNvSpPr>
          <p:nvPr>
            <p:ph idx="1"/>
          </p:nvPr>
        </p:nvSpPr>
        <p:spPr/>
        <p:txBody>
          <a:bodyPr>
            <a:normAutofit fontScale="62500" lnSpcReduction="20000"/>
          </a:bodyPr>
          <a:lstStyle/>
          <a:p>
            <a:pPr marL="0" indent="0">
              <a:buNone/>
            </a:pPr>
            <a:r>
              <a:rPr lang="en-US" b="1" dirty="0"/>
              <a:t>Battery Pack to Power Switch</a:t>
            </a:r>
            <a:endParaRPr lang="en-US" dirty="0"/>
          </a:p>
          <a:p>
            <a:pPr marL="0" indent="0">
              <a:buNone/>
            </a:pPr>
            <a:r>
              <a:rPr lang="en-US" dirty="0"/>
              <a:t>Use a matching connector or adapter (e.g., JST male ↔ JST female pigtail).</a:t>
            </a:r>
          </a:p>
          <a:p>
            <a:pPr marL="0" indent="0">
              <a:buNone/>
            </a:pPr>
            <a:r>
              <a:rPr lang="en-US" dirty="0"/>
              <a:t>Switch goes in-line on the </a:t>
            </a:r>
            <a:r>
              <a:rPr lang="en-US" b="1" dirty="0"/>
              <a:t>positive wire</a:t>
            </a:r>
            <a:r>
              <a:rPr lang="en-US" dirty="0"/>
              <a:t> so you can turn the whole robot on/off. From the switch, the positive/negative split into two paths:</a:t>
            </a:r>
          </a:p>
          <a:p>
            <a:pPr marL="0" indent="0">
              <a:buNone/>
            </a:pPr>
            <a:r>
              <a:rPr lang="en-US" b="1" dirty="0"/>
              <a:t>a) Motor Power Path</a:t>
            </a:r>
            <a:endParaRPr lang="en-US" dirty="0"/>
          </a:p>
          <a:p>
            <a:pPr marL="0" indent="0">
              <a:buNone/>
            </a:pPr>
            <a:r>
              <a:rPr lang="en-US" dirty="0"/>
              <a:t>Battery to Motor Driver (L298N or TB6612) </a:t>
            </a:r>
            <a:r>
              <a:rPr lang="en-US" b="1" dirty="0"/>
              <a:t>VIN</a:t>
            </a:r>
            <a:r>
              <a:rPr lang="en-US" dirty="0"/>
              <a:t> and </a:t>
            </a:r>
            <a:r>
              <a:rPr lang="en-US" b="1" dirty="0"/>
              <a:t>GND</a:t>
            </a:r>
            <a:r>
              <a:rPr lang="en-US" dirty="0"/>
              <a:t> screw terminals.</a:t>
            </a:r>
          </a:p>
          <a:p>
            <a:pPr marL="0" indent="0">
              <a:buNone/>
            </a:pPr>
            <a:r>
              <a:rPr lang="en-US" dirty="0"/>
              <a:t>This powers the DC motors at 7.4 V.</a:t>
            </a:r>
          </a:p>
          <a:p>
            <a:pPr marL="0" indent="0">
              <a:buNone/>
            </a:pPr>
            <a:r>
              <a:rPr lang="en-US" b="1" dirty="0"/>
              <a:t>b) Logic Power Path</a:t>
            </a:r>
            <a:endParaRPr lang="en-US" dirty="0"/>
          </a:p>
          <a:p>
            <a:pPr marL="0" indent="0">
              <a:buNone/>
            </a:pPr>
            <a:r>
              <a:rPr lang="en-US" dirty="0"/>
              <a:t>Battery to Buck Converter input (</a:t>
            </a:r>
            <a:r>
              <a:rPr lang="en-US" b="1" dirty="0"/>
              <a:t>VIN+ / VIN–</a:t>
            </a:r>
            <a:r>
              <a:rPr lang="en-US" dirty="0"/>
              <a:t>).</a:t>
            </a:r>
          </a:p>
          <a:p>
            <a:pPr marL="0" indent="0">
              <a:buNone/>
            </a:pPr>
            <a:r>
              <a:rPr lang="en-US" dirty="0"/>
              <a:t>Buck Converter output (</a:t>
            </a:r>
            <a:r>
              <a:rPr lang="en-US" b="1" dirty="0"/>
              <a:t>+5 V / GND</a:t>
            </a:r>
            <a:r>
              <a:rPr lang="en-US" dirty="0"/>
              <a:t>) to Arduino 5V pin + sensors + servo.</a:t>
            </a:r>
          </a:p>
          <a:p>
            <a:pPr marL="0" indent="0">
              <a:buNone/>
            </a:pPr>
            <a:endParaRPr lang="en-US" b="1" dirty="0"/>
          </a:p>
          <a:p>
            <a:pPr marL="0" indent="0">
              <a:buNone/>
            </a:pPr>
            <a:r>
              <a:rPr lang="en-US" b="1" dirty="0"/>
              <a:t>Common Ground Rule</a:t>
            </a:r>
            <a:endParaRPr lang="en-US" dirty="0"/>
          </a:p>
          <a:p>
            <a:pPr marL="0" indent="0">
              <a:buNone/>
            </a:pPr>
            <a:r>
              <a:rPr lang="en-US" dirty="0"/>
              <a:t>Connect all grounds (battery – , motor driver GND, Arduino GND, buck GND) together.</a:t>
            </a:r>
          </a:p>
          <a:p>
            <a:pPr marL="0" indent="0">
              <a:buNone/>
            </a:pPr>
            <a:r>
              <a:rPr lang="en-US" dirty="0"/>
              <a:t>This makes sure signals flow correctly.</a:t>
            </a:r>
          </a:p>
          <a:p>
            <a:pPr marL="0" indent="0">
              <a:buNone/>
            </a:pPr>
            <a:endParaRPr lang="en-US" dirty="0"/>
          </a:p>
        </p:txBody>
      </p:sp>
    </p:spTree>
    <p:extLst>
      <p:ext uri="{BB962C8B-B14F-4D97-AF65-F5344CB8AC3E}">
        <p14:creationId xmlns:p14="http://schemas.microsoft.com/office/powerpoint/2010/main" val="1746270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DC-DC Buck Converter</a:t>
            </a:r>
            <a:endParaRPr lang="en-US" dirty="0"/>
          </a:p>
        </p:txBody>
      </p:sp>
      <p:sp>
        <p:nvSpPr>
          <p:cNvPr id="3" name="Content Placeholder 2"/>
          <p:cNvSpPr>
            <a:spLocks noGrp="1"/>
          </p:cNvSpPr>
          <p:nvPr>
            <p:ph idx="1"/>
          </p:nvPr>
        </p:nvSpPr>
        <p:spPr>
          <a:xfrm>
            <a:off x="457200" y="1600200"/>
            <a:ext cx="4334256" cy="4203191"/>
          </a:xfrm>
        </p:spPr>
        <p:txBody>
          <a:bodyPr>
            <a:normAutofit fontScale="70000" lnSpcReduction="20000"/>
          </a:bodyPr>
          <a:lstStyle/>
          <a:p>
            <a:pPr marL="0" indent="0">
              <a:buNone/>
            </a:pPr>
            <a:r>
              <a:rPr lang="en-US" b="1" dirty="0"/>
              <a:t>What is a DC-DC Buck Converter?</a:t>
            </a:r>
          </a:p>
          <a:p>
            <a:pPr marL="0" indent="0">
              <a:buNone/>
            </a:pPr>
            <a:endParaRPr lang="en-US" dirty="0"/>
          </a:p>
          <a:p>
            <a:pPr marL="0" indent="0">
              <a:buNone/>
            </a:pPr>
            <a:r>
              <a:rPr lang="en-US" dirty="0"/>
              <a:t>It’s a small electronic module that </a:t>
            </a:r>
            <a:r>
              <a:rPr lang="en-US" b="1" dirty="0"/>
              <a:t>takes a higher DC voltage and steps it down to a lower DC voltage</a:t>
            </a:r>
            <a:r>
              <a:rPr lang="en-US" dirty="0"/>
              <a:t>.</a:t>
            </a:r>
          </a:p>
          <a:p>
            <a:pPr marL="0" indent="0">
              <a:buNone/>
            </a:pPr>
            <a:r>
              <a:rPr lang="en-US" dirty="0"/>
              <a:t>“Buck” = step-down.</a:t>
            </a:r>
          </a:p>
          <a:p>
            <a:pPr marL="0" indent="0">
              <a:buNone/>
            </a:pPr>
            <a:endParaRPr lang="en-US" dirty="0"/>
          </a:p>
          <a:p>
            <a:pPr marL="0" indent="0">
              <a:buNone/>
            </a:pPr>
            <a:r>
              <a:rPr lang="en-US" dirty="0"/>
              <a:t>Example: If your battery is </a:t>
            </a:r>
            <a:r>
              <a:rPr lang="en-US" b="1" dirty="0"/>
              <a:t>7.4 V</a:t>
            </a:r>
            <a:r>
              <a:rPr lang="en-US" dirty="0"/>
              <a:t> (from a Li-ion pack), but your Arduino, sensors, and servo need </a:t>
            </a:r>
            <a:r>
              <a:rPr lang="en-US" b="1" dirty="0"/>
              <a:t>5 V</a:t>
            </a:r>
            <a:r>
              <a:rPr lang="en-US" dirty="0"/>
              <a:t>, the buck converter lowers it safely.</a:t>
            </a:r>
          </a:p>
          <a:p>
            <a:pPr marL="0" indent="0">
              <a:buNone/>
            </a:pPr>
            <a:r>
              <a:rPr dirty="0"/>
              <a:t>.</a:t>
            </a:r>
            <a:r>
              <a:rPr lang="en-US" b="1" dirty="0"/>
              <a:t> LM2596 buck converter is the way</a:t>
            </a:r>
            <a:endParaRPr dirty="0"/>
          </a:p>
        </p:txBody>
      </p:sp>
      <p:pic>
        <p:nvPicPr>
          <p:cNvPr id="9218" name="Picture 2" descr="Amazon.com: DC 48V 36V to DC 5V Step Down Voltage 5Volts Reducer Regulator  Output 2A 10W Buck Converter Power Converter Module for Auto Car Truck  Vehicle Boat Solar System (36V 48V-5V-2A) :">
            <a:extLst>
              <a:ext uri="{FF2B5EF4-FFF2-40B4-BE49-F238E27FC236}">
                <a16:creationId xmlns:a16="http://schemas.microsoft.com/office/drawing/2014/main" id="{434423A3-E7E2-C5EA-E1D4-E392152D78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0912" y="1182624"/>
            <a:ext cx="3797808" cy="3797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6760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Power Switch</a:t>
            </a:r>
          </a:p>
        </p:txBody>
      </p:sp>
      <p:sp>
        <p:nvSpPr>
          <p:cNvPr id="3" name="Content Placeholder 2"/>
          <p:cNvSpPr>
            <a:spLocks noGrp="1"/>
          </p:cNvSpPr>
          <p:nvPr>
            <p:ph idx="1"/>
          </p:nvPr>
        </p:nvSpPr>
        <p:spPr/>
        <p:txBody>
          <a:bodyPr/>
          <a:lstStyle/>
          <a:p>
            <a:pPr marL="0" indent="0">
              <a:buNone/>
            </a:pPr>
            <a:r>
              <a:rPr dirty="0"/>
              <a:t>Turns the robot on/off safely. Rated to handle motor current.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Ultrasonic Sensor</a:t>
            </a:r>
          </a:p>
        </p:txBody>
      </p:sp>
      <p:sp>
        <p:nvSpPr>
          <p:cNvPr id="3" name="Content Placeholder 2"/>
          <p:cNvSpPr>
            <a:spLocks noGrp="1"/>
          </p:cNvSpPr>
          <p:nvPr>
            <p:ph idx="1"/>
          </p:nvPr>
        </p:nvSpPr>
        <p:spPr/>
        <p:txBody>
          <a:bodyPr/>
          <a:lstStyle/>
          <a:p>
            <a:pPr marL="0" indent="0">
              <a:buNone/>
            </a:pPr>
            <a:r>
              <a:rPr dirty="0"/>
              <a:t>Detects obstacles/trash by sending sound waves and measuring echo time.</a:t>
            </a:r>
          </a:p>
        </p:txBody>
      </p:sp>
      <p:pic>
        <p:nvPicPr>
          <p:cNvPr id="6146" name="Picture 2" descr="Obstacle Avoiding Robot using Ultrasonic Sensor and L298N H-Bridge Mot –  QuartzComponents">
            <a:extLst>
              <a:ext uri="{FF2B5EF4-FFF2-40B4-BE49-F238E27FC236}">
                <a16:creationId xmlns:a16="http://schemas.microsoft.com/office/drawing/2014/main" id="{096A6C8E-AC79-2123-62F6-1F4CA9943E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595" y="2806890"/>
            <a:ext cx="4448810" cy="35018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Break-beam Sensor</a:t>
            </a:r>
          </a:p>
        </p:txBody>
      </p:sp>
      <p:sp>
        <p:nvSpPr>
          <p:cNvPr id="3" name="Content Placeholder 2"/>
          <p:cNvSpPr>
            <a:spLocks noGrp="1"/>
          </p:cNvSpPr>
          <p:nvPr>
            <p:ph idx="1"/>
          </p:nvPr>
        </p:nvSpPr>
        <p:spPr/>
        <p:txBody>
          <a:bodyPr/>
          <a:lstStyle/>
          <a:p>
            <a:pPr marL="0" indent="0">
              <a:buNone/>
            </a:pPr>
            <a:r>
              <a:rPr dirty="0"/>
              <a:t>Placed in scoop; detects when trash is collected.</a:t>
            </a:r>
          </a:p>
        </p:txBody>
      </p:sp>
      <p:pic>
        <p:nvPicPr>
          <p:cNvPr id="5122" name="Picture 2" descr="Arduino | IR Breakbeam Sensors | Adafruit Learning System">
            <a:extLst>
              <a:ext uri="{FF2B5EF4-FFF2-40B4-BE49-F238E27FC236}">
                <a16:creationId xmlns:a16="http://schemas.microsoft.com/office/drawing/2014/main" id="{37DF22F8-E5F3-25AE-E2B9-5F34D02D2B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6464" y="2811920"/>
            <a:ext cx="6291072" cy="36413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Micro Servo</a:t>
            </a:r>
          </a:p>
        </p:txBody>
      </p:sp>
      <p:sp>
        <p:nvSpPr>
          <p:cNvPr id="3" name="Content Placeholder 2"/>
          <p:cNvSpPr>
            <a:spLocks noGrp="1"/>
          </p:cNvSpPr>
          <p:nvPr>
            <p:ph idx="1"/>
          </p:nvPr>
        </p:nvSpPr>
        <p:spPr/>
        <p:txBody>
          <a:bodyPr/>
          <a:lstStyle/>
          <a:p>
            <a:pPr marL="0" indent="0">
              <a:buNone/>
            </a:pPr>
            <a:r>
              <a:rPr dirty="0"/>
              <a:t>Opens/closes the scoop gate for dumping trash.</a:t>
            </a:r>
          </a:p>
        </p:txBody>
      </p:sp>
      <p:pic>
        <p:nvPicPr>
          <p:cNvPr id="7170" name="Picture 2" descr="Micro servo">
            <a:extLst>
              <a:ext uri="{FF2B5EF4-FFF2-40B4-BE49-F238E27FC236}">
                <a16:creationId xmlns:a16="http://schemas.microsoft.com/office/drawing/2014/main" id="{0F90008C-4136-F3BD-7810-89A3846223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331" y="2367432"/>
            <a:ext cx="5617337" cy="42159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407408" cy="1143000"/>
          </a:xfrm>
        </p:spPr>
        <p:txBody>
          <a:bodyPr/>
          <a:lstStyle/>
          <a:p>
            <a:r>
              <a:rPr dirty="0"/>
              <a:t>Jumper Wires</a:t>
            </a:r>
          </a:p>
        </p:txBody>
      </p:sp>
      <p:sp>
        <p:nvSpPr>
          <p:cNvPr id="3" name="Content Placeholder 2"/>
          <p:cNvSpPr>
            <a:spLocks noGrp="1"/>
          </p:cNvSpPr>
          <p:nvPr>
            <p:ph idx="1"/>
          </p:nvPr>
        </p:nvSpPr>
        <p:spPr>
          <a:xfrm>
            <a:off x="262128" y="1597152"/>
            <a:ext cx="5748528" cy="4858195"/>
          </a:xfrm>
        </p:spPr>
        <p:txBody>
          <a:bodyPr>
            <a:normAutofit fontScale="62500" lnSpcReduction="20000"/>
          </a:bodyPr>
          <a:lstStyle/>
          <a:p>
            <a:pPr marL="0" indent="0">
              <a:buNone/>
            </a:pPr>
            <a:r>
              <a:rPr lang="en-US" b="1" dirty="0"/>
              <a:t>Arduino to Motor Driver</a:t>
            </a:r>
            <a:r>
              <a:rPr lang="en-US" dirty="0"/>
              <a:t>: connect digital pins (IN1, IN2, ENA, etc.) using </a:t>
            </a:r>
            <a:r>
              <a:rPr lang="en-US" b="1" dirty="0"/>
              <a:t>M–M</a:t>
            </a:r>
            <a:r>
              <a:rPr lang="en-US" dirty="0"/>
              <a:t> wires into breadboard or headers.</a:t>
            </a:r>
          </a:p>
          <a:p>
            <a:pPr marL="0" indent="0">
              <a:buNone/>
            </a:pPr>
            <a:endParaRPr lang="en-US" b="1" dirty="0"/>
          </a:p>
          <a:p>
            <a:pPr marL="0" indent="0">
              <a:buNone/>
            </a:pPr>
            <a:r>
              <a:rPr lang="en-US" b="1" dirty="0"/>
              <a:t>Arduino to Ultrasonic Sensor</a:t>
            </a:r>
            <a:r>
              <a:rPr lang="en-US" dirty="0"/>
              <a:t>: the HC-SR04 has male pins, so you’ll use </a:t>
            </a:r>
            <a:r>
              <a:rPr lang="en-US" b="1" dirty="0"/>
              <a:t>M–F</a:t>
            </a:r>
            <a:r>
              <a:rPr lang="en-US" dirty="0"/>
              <a:t> wires (female side to sensor, male to Arduino pins).</a:t>
            </a:r>
          </a:p>
          <a:p>
            <a:pPr marL="0" indent="0">
              <a:buNone/>
            </a:pPr>
            <a:endParaRPr lang="en-US" b="1" dirty="0"/>
          </a:p>
          <a:p>
            <a:pPr marL="0" indent="0">
              <a:buNone/>
            </a:pPr>
            <a:r>
              <a:rPr lang="en-US" b="1" dirty="0"/>
              <a:t>Arduino to Line Sensors</a:t>
            </a:r>
            <a:r>
              <a:rPr lang="en-US" dirty="0"/>
              <a:t>: most line sensor modules have male header pins → use </a:t>
            </a:r>
            <a:r>
              <a:rPr lang="en-US" b="1" dirty="0"/>
              <a:t>M–F</a:t>
            </a:r>
            <a:r>
              <a:rPr lang="en-US" dirty="0"/>
              <a:t>.</a:t>
            </a:r>
          </a:p>
          <a:p>
            <a:pPr marL="0" indent="0">
              <a:buNone/>
            </a:pPr>
            <a:endParaRPr lang="en-US" b="1" dirty="0"/>
          </a:p>
          <a:p>
            <a:pPr marL="0" indent="0">
              <a:buNone/>
            </a:pPr>
            <a:r>
              <a:rPr lang="en-US" b="1" dirty="0"/>
              <a:t>Arduino to Servo</a:t>
            </a:r>
            <a:r>
              <a:rPr lang="en-US" dirty="0"/>
              <a:t>: servo plug is female → use </a:t>
            </a:r>
            <a:r>
              <a:rPr lang="en-US" b="1" dirty="0"/>
              <a:t>M–M</a:t>
            </a:r>
            <a:r>
              <a:rPr lang="en-US" dirty="0"/>
              <a:t> into Arduino header.</a:t>
            </a:r>
          </a:p>
          <a:p>
            <a:pPr marL="0" indent="0">
              <a:buNone/>
            </a:pPr>
            <a:endParaRPr lang="en-US" b="1" dirty="0"/>
          </a:p>
          <a:p>
            <a:pPr marL="0" indent="0">
              <a:buNone/>
            </a:pPr>
            <a:r>
              <a:rPr lang="en-US" b="1" dirty="0"/>
              <a:t>Breadboard Connections</a:t>
            </a:r>
            <a:r>
              <a:rPr lang="en-US" dirty="0"/>
              <a:t>: linking VCC and GND rails with </a:t>
            </a:r>
            <a:r>
              <a:rPr lang="en-US" b="1" dirty="0"/>
              <a:t>M–M</a:t>
            </a:r>
            <a:r>
              <a:rPr lang="en-US" dirty="0"/>
              <a:t> wires.</a:t>
            </a:r>
          </a:p>
          <a:p>
            <a:pPr marL="0" indent="0">
              <a:buNone/>
            </a:pPr>
            <a:endParaRPr dirty="0"/>
          </a:p>
        </p:txBody>
      </p:sp>
      <p:pic>
        <p:nvPicPr>
          <p:cNvPr id="10242" name="Picture 2" descr="4110, 200mm Jumper Wire Breadboard Jumper Wire in Black, Blue, Brown,  Green, Grey, Orange, Purple, Red, White, Yellow | RS">
            <a:extLst>
              <a:ext uri="{FF2B5EF4-FFF2-40B4-BE49-F238E27FC236}">
                <a16:creationId xmlns:a16="http://schemas.microsoft.com/office/drawing/2014/main" id="{FB95614D-13E7-D0EB-7526-165F1625CA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8600" y="99537"/>
            <a:ext cx="3135400" cy="17658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Chassis (Wooden Box)</a:t>
            </a:r>
          </a:p>
        </p:txBody>
      </p:sp>
      <p:sp>
        <p:nvSpPr>
          <p:cNvPr id="3" name="Content Placeholder 2"/>
          <p:cNvSpPr>
            <a:spLocks noGrp="1"/>
          </p:cNvSpPr>
          <p:nvPr>
            <p:ph idx="1"/>
          </p:nvPr>
        </p:nvSpPr>
        <p:spPr/>
        <p:txBody>
          <a:bodyPr/>
          <a:lstStyle/>
          <a:p>
            <a:r>
              <a:t>Holds all components together. Motors mounted on sides, electronics inside, scoop at the front.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Scoop &amp; Hinges</a:t>
            </a:r>
          </a:p>
        </p:txBody>
      </p:sp>
      <p:sp>
        <p:nvSpPr>
          <p:cNvPr id="3" name="Content Placeholder 2"/>
          <p:cNvSpPr>
            <a:spLocks noGrp="1"/>
          </p:cNvSpPr>
          <p:nvPr>
            <p:ph idx="1"/>
          </p:nvPr>
        </p:nvSpPr>
        <p:spPr/>
        <p:txBody>
          <a:bodyPr/>
          <a:lstStyle/>
          <a:p>
            <a:r>
              <a:t>Collects trash items. Hinges/servo allow dumping mechanism.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Zip Ties, Screws, Brackets</a:t>
            </a:r>
          </a:p>
        </p:txBody>
      </p:sp>
      <p:sp>
        <p:nvSpPr>
          <p:cNvPr id="3" name="Content Placeholder 2"/>
          <p:cNvSpPr>
            <a:spLocks noGrp="1"/>
          </p:cNvSpPr>
          <p:nvPr>
            <p:ph idx="1"/>
          </p:nvPr>
        </p:nvSpPr>
        <p:spPr/>
        <p:txBody>
          <a:bodyPr/>
          <a:lstStyle/>
          <a:p>
            <a:pPr marL="0" indent="0">
              <a:buNone/>
            </a:pPr>
            <a:r>
              <a:rPr dirty="0"/>
              <a:t>Mechanical support for mounting components securely.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Most Optimal Design Layout</a:t>
            </a:r>
          </a:p>
        </p:txBody>
      </p:sp>
      <p:sp>
        <p:nvSpPr>
          <p:cNvPr id="3" name="Content Placeholder 2"/>
          <p:cNvSpPr>
            <a:spLocks noGrp="1"/>
          </p:cNvSpPr>
          <p:nvPr>
            <p:ph idx="1"/>
          </p:nvPr>
        </p:nvSpPr>
        <p:spPr/>
        <p:txBody>
          <a:bodyPr>
            <a:normAutofit fontScale="92500" lnSpcReduction="20000"/>
          </a:bodyPr>
          <a:lstStyle/>
          <a:p>
            <a:pPr marL="0" indent="0">
              <a:buNone/>
            </a:pPr>
            <a:r>
              <a:rPr dirty="0"/>
              <a:t>Place DC motors + wheels on the left/right sides of the wooden box</a:t>
            </a:r>
            <a:endParaRPr lang="en-US" dirty="0"/>
          </a:p>
          <a:p>
            <a:pPr marL="0" indent="0">
              <a:buNone/>
            </a:pPr>
            <a:r>
              <a:rPr dirty="0"/>
              <a:t>Position scoop at the front with servo-controlled gate</a:t>
            </a:r>
          </a:p>
          <a:p>
            <a:pPr marL="0" indent="0">
              <a:buNone/>
            </a:pPr>
            <a:r>
              <a:rPr dirty="0"/>
              <a:t>Ultrasonic sensor mounted above scoop facing forward</a:t>
            </a:r>
          </a:p>
          <a:p>
            <a:pPr marL="0" indent="0">
              <a:buNone/>
            </a:pPr>
            <a:r>
              <a:rPr dirty="0"/>
              <a:t>Battery pack centered inside for stability</a:t>
            </a:r>
          </a:p>
          <a:p>
            <a:pPr marL="0" indent="0">
              <a:buNone/>
            </a:pPr>
            <a:r>
              <a:rPr dirty="0"/>
              <a:t>Arduino and motor driver mounted inside on top panel</a:t>
            </a:r>
          </a:p>
          <a:p>
            <a:pPr marL="0" indent="0">
              <a:buNone/>
            </a:pPr>
            <a:r>
              <a:rPr dirty="0"/>
              <a:t>Wires tied with zip ties for safety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457</TotalTime>
  <Words>1340</Words>
  <Application>Microsoft Macintosh PowerPoint</Application>
  <PresentationFormat>On-screen Show (4:3)</PresentationFormat>
  <Paragraphs>100</Paragraphs>
  <Slides>26</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Eco-Sweep Robot: Components &amp; Design</vt:lpstr>
      <vt:lpstr>Arduino Uno Anatomy</vt:lpstr>
      <vt:lpstr>Components</vt:lpstr>
      <vt:lpstr>Arduino Programming</vt:lpstr>
      <vt:lpstr>Arduino PINS</vt:lpstr>
      <vt:lpstr>DC Gear Motors + Wheels</vt:lpstr>
      <vt:lpstr>PowerPoint Presentation</vt:lpstr>
      <vt:lpstr>H-Bridge</vt:lpstr>
      <vt:lpstr>DC Motors (How they work)</vt:lpstr>
      <vt:lpstr>ENABLE in H-Bridge</vt:lpstr>
      <vt:lpstr>L298N Motor Driver (H-Bridge)</vt:lpstr>
      <vt:lpstr>PMW (Pulse Width Modulation) </vt:lpstr>
      <vt:lpstr>PowerPoint Presentation</vt:lpstr>
      <vt:lpstr>Caster Wheel (optional)</vt:lpstr>
      <vt:lpstr>7.4V Battery Pack</vt:lpstr>
      <vt:lpstr>Battery Setup</vt:lpstr>
      <vt:lpstr>DC-DC Buck Converter</vt:lpstr>
      <vt:lpstr>Power Switch</vt:lpstr>
      <vt:lpstr>Ultrasonic Sensor</vt:lpstr>
      <vt:lpstr>Break-beam Sensor</vt:lpstr>
      <vt:lpstr>Micro Servo</vt:lpstr>
      <vt:lpstr>Jumper Wires</vt:lpstr>
      <vt:lpstr>Chassis (Wooden Box)</vt:lpstr>
      <vt:lpstr>Scoop &amp; Hinges</vt:lpstr>
      <vt:lpstr>Zip Ties, Screws, Brackets</vt:lpstr>
      <vt:lpstr>Most Optimal Design Layout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Eco-Sweep Robot: Components &amp; Design</dc:title>
  <dc:subject/>
  <dc:creator/>
  <cp:keywords/>
  <dc:description>generated using python-pptx</dc:description>
  <cp:lastModifiedBy>Callyn Villanueva</cp:lastModifiedBy>
  <cp:revision>49</cp:revision>
  <dcterms:created xsi:type="dcterms:W3CDTF">2013-01-27T09:14:16Z</dcterms:created>
  <dcterms:modified xsi:type="dcterms:W3CDTF">2025-10-04T00:12:22Z</dcterms:modified>
  <cp:category/>
</cp:coreProperties>
</file>